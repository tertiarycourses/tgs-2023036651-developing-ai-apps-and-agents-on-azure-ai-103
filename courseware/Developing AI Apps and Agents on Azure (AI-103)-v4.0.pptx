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availability</c:v>
                </c:pt>
                <c:pt idx="1">
                  <c:v>p95 latency</c:v>
                </c:pt>
                <c:pt idx="2">
                  <c:v>error rate</c:v>
                </c:pt>
                <c:pt idx="3">
                  <c:v>cost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99.95</c:v>
                </c:pt>
                <c:pt idx="1">
                  <c:v>82</c:v>
                </c:pt>
                <c:pt idx="2">
                  <c:v>1.2</c:v>
                </c:pt>
                <c:pt idx="3">
                  <c:v>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6D3FD2"/>
            </a:solidFill>
          </c:spPr>
          <c:cat>
            <c:strRef>
              <c:f>Sheet1!$A$2:$A$5</c:f>
              <c:strCache>
                <c:ptCount val="4"/>
                <c:pt idx="0">
                  <c:v>allowed</c:v>
                </c:pt>
                <c:pt idx="1">
                  <c:v>review</c:v>
                </c:pt>
                <c:pt idx="2">
                  <c:v>blocked</c:v>
                </c:pt>
                <c:pt idx="3">
                  <c:v>false positive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</c:v>
                </c:pt>
                <c:pt idx="1">
                  <c:v>11</c:v>
                </c:pt>
                <c:pt idx="2">
                  <c:v>12</c:v>
                </c:pt>
                <c:pt idx="3">
                  <c:v>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hybrid</c:v>
                </c:pt>
                <c:pt idx="2">
                  <c:v>+ reranker</c:v>
                </c:pt>
                <c:pt idx="3">
                  <c:v>+ filters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</c:v>
                </c:pt>
                <c:pt idx="1">
                  <c:v>0.72</c:v>
                </c:pt>
                <c:pt idx="2">
                  <c:v>0.81</c:v>
                </c:pt>
                <c:pt idx="3">
                  <c:v>0.79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6845B"/>
            </a:solidFill>
          </c:spPr>
          <c:cat>
            <c:strRef>
              <c:f>Sheet1!$A$2:$A$4</c:f>
              <c:strCache>
                <c:ptCount val="3"/>
                <c:pt idx="0">
                  <c:v>prompt agent</c:v>
                </c:pt>
                <c:pt idx="1">
                  <c:v>hosted agent</c:v>
                </c:pt>
                <c:pt idx="2">
                  <c:v>multi-agent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58</c:v>
                </c:pt>
                <c:pt idx="2">
                  <c:v>86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grounded</c:v>
                </c:pt>
                <c:pt idx="1">
                  <c:v>needs review</c:v>
                </c:pt>
                <c:pt idx="2">
                  <c:v>unsafe</c:v>
                </c:pt>
                <c:pt idx="3">
                  <c:v>unsupported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20</c:v>
                </c:pt>
                <c:pt idx="2">
                  <c:v>8</c:v>
                </c:pt>
                <c:pt idx="3">
                  <c:v>10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6D3FD2"/>
            </a:solidFill>
          </c:spPr>
          <c:cat>
            <c:strRef>
              <c:f>Sheet1!$A$2:$A$5</c:f>
              <c:strCache>
                <c:ptCount val="4"/>
                <c:pt idx="0">
                  <c:v>quiet</c:v>
                </c:pt>
                <c:pt idx="1">
                  <c:v>office</c:v>
                </c:pt>
                <c:pt idx="2">
                  <c:v>street</c:v>
                </c:pt>
                <c:pt idx="3">
                  <c:v>call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6.8</c:v>
                </c:pt>
                <c:pt idx="1">
                  <c:v>11.4</c:v>
                </c:pt>
                <c:pt idx="2">
                  <c:v>19.7</c:v>
                </c:pt>
                <c:pt idx="3">
                  <c:v>14.2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08A73"/>
            </a:solidFill>
          </c:spPr>
          <c:cat>
            <c:strRef>
              <c:f>Sheet1!$A$2:$A$5</c:f>
              <c:strCache>
                <c:ptCount val="4"/>
                <c:pt idx="0">
                  <c:v>grounded extraction</c:v>
                </c:pt>
                <c:pt idx="1">
                  <c:v>translation check</c:v>
                </c:pt>
                <c:pt idx="2">
                  <c:v>PII review</c:v>
                </c:pt>
                <c:pt idx="3">
                  <c:v>human review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84</c:v>
                </c:pt>
                <c:pt idx="2">
                  <c:v>100</c:v>
                </c:pt>
                <c:pt idx="3">
                  <c:v>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6845B"/>
            </a:solidFill>
          </c:spPr>
          <c:cat>
            <c:strRef>
              <c:f>Sheet1!$A$2:$A$5</c:f>
              <c:strCache>
                <c:ptCount val="4"/>
                <c:pt idx="0">
                  <c:v>BM25</c:v>
                </c:pt>
                <c:pt idx="1">
                  <c:v>vector</c:v>
                </c:pt>
                <c:pt idx="2">
                  <c:v>hybrid RRF</c:v>
                </c:pt>
                <c:pt idx="3">
                  <c:v>+ semantic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</c:v>
                </c:pt>
                <c:pt idx="1">
                  <c:v>0.69</c:v>
                </c:pt>
                <c:pt idx="2">
                  <c:v>0.78</c:v>
                </c:pt>
                <c:pt idx="3">
                  <c:v>0.84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invoice</c:v>
                </c:pt>
                <c:pt idx="1">
                  <c:v>receipt</c:v>
                </c:pt>
                <c:pt idx="2">
                  <c:v>contract</c:v>
                </c:pt>
                <c:pt idx="3">
                  <c:v>mixed media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</c:v>
                </c:pt>
                <c:pt idx="1">
                  <c:v>0.91</c:v>
                </c:pt>
                <c:pt idx="2">
                  <c:v>0.79</c:v>
                </c:pt>
                <c:pt idx="3">
                  <c:v>0.73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teaching values</c:v>
                </c:pt>
              </c:strCache>
            </c:strRef>
          </c:tx>
          <c:spPr>
            <a:solidFill>
              <a:srgbClr val="6D3FD2"/>
            </a:solidFill>
          </c:spPr>
          <c:cat>
            <c:strRef>
              <c:f>Sheet1!$A$2:$A$5</c:f>
              <c:strCache>
                <c:ptCount val="4"/>
                <c:pt idx="0">
                  <c:v>quality</c:v>
                </c:pt>
                <c:pt idx="1">
                  <c:v>safety</c:v>
                </c:pt>
                <c:pt idx="2">
                  <c:v>latency</c:v>
                </c:pt>
                <c:pt idx="3">
                  <c:v>cost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</c:v>
                </c:pt>
                <c:pt idx="1">
                  <c:v>99</c:v>
                </c:pt>
                <c:pt idx="2">
                  <c:v>78</c:v>
                </c:pt>
                <c:pt idx="3">
                  <c:v>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earn.microsoft.com/en-us/credentials/certifications/resources/study-guides/ai-103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36651-Developing-AI-Apps-and-Agents-on-Azure-AI-103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" TargetMode="Externa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i102-foundry-control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502920"/>
            <a:ext cx="5943600" cy="53035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5488"/>
            <a:ext cx="658368" cy="65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481328"/>
            <a:ext cx="5074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WSQ · INSTRUCTOR-LED · 2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74519"/>
            <a:ext cx="512064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61B26"/>
                </a:solidFill>
                <a:latin typeface="Arial"/>
              </a:rPr>
              <a:t>Developing AI Apps and Agents on Azure (AI-103)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75887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Course Code: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078224"/>
            <a:ext cx="50749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5B6372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956048"/>
            <a:ext cx="2788920" cy="585216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BBD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5138928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Version 4.0 · 27 Sep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Course administration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WSQ requirements · learning outcomes · evidence expectations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the morning attendance window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the afternoon attendance window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assessment attendance before sitting papers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ELIGIBILITY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At least 75% attendance and Competent outcome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TRAINING TEAM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3310128" cy="4069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9072" y="2240280"/>
            <a:ext cx="1426464" cy="142646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9072" y="2633472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TIA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31920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61B26"/>
                </a:solidFill>
                <a:latin typeface="Arial"/>
              </a:rPr>
              <a:t>Tertiary Infotech
Academy 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599432"/>
            <a:ext cx="2706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5B6372"/>
                </a:solidFill>
                <a:latin typeface="Arial"/>
              </a:rPr>
              <a:t>Microsoft Azure AI
training team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88366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86537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Tertiary Infotech Academy Trainer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432304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2432304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5603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542032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WSQ Technical Trainer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108960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3108960"/>
            <a:ext cx="73152" cy="576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236976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18688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Azure AI and adult-learning credentials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785616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785616"/>
            <a:ext cx="73152" cy="57607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91363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895344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Microsoft Foundry, Azure AI services, MLOps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462272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4462272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59028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572000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Applied cloud AI delivery and facilitation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513892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5138928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526694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4865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Introduced during the opening briefing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3310128" cy="40690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9072" y="2240280"/>
            <a:ext cx="1426464" cy="142646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19072" y="2633472"/>
            <a:ext cx="142646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931920"/>
            <a:ext cx="27066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4599432"/>
            <a:ext cx="2706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>
                <a:solidFill>
                  <a:srgbClr val="5B6372"/>
                </a:solidFill>
                <a:latin typeface="Arial"/>
              </a:rPr>
              <a:t>Principal Trainer
AI, automation, and 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175564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188366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86537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432304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2432304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25603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TITLE / DESIGNATION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542032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Principal Trainer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108960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07408" y="3108960"/>
            <a:ext cx="73152" cy="57607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3236976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08A73"/>
                </a:solidFill>
                <a:latin typeface="Arial"/>
              </a:rPr>
              <a:t>QUALIFICATIONS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18688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PhD; Azure AI and software engineering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785616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07408" y="3785616"/>
            <a:ext cx="73152" cy="57607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3913632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AREAS OF EXPERTISE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895344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AI solutions, agents, automation, apps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462272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07408" y="4462272"/>
            <a:ext cx="73152" cy="5760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59028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4572000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Industry implementation and adult learning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5138928"/>
            <a:ext cx="7086600" cy="57607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5138928"/>
            <a:ext cx="73152" cy="57607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5266944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D3FD2"/>
                </a:solidFill>
                <a:latin typeface="Arial"/>
              </a:rPr>
              <a:t>CONTACT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5248656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Shared during 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PUNCTUAL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Return from breaks on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Explain decisions and evidence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synthetic/non-confidential inputs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ASK EARLY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Raise blockers before they cascade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TSC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Analyse Azure AI algorithms and efficiency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Evaluate strengths and 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Assess feasibility and improvements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Explain what proves each conclusion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9:00 AM–6:00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Two-Day Lesson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1 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Planning, governance, generative 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1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Agents, vision, language/speech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2 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Custom language, search, extraction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DAY 2 PM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Capstone + 2-hour assessment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77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CURRENT AS OF 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AI-103 Course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AI-103: Developing AI Apps and Agents on Azure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Skills measured from 16 Apr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WSQ TGS-2023036651 · two days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Foundry apps, agents, multimodal and extraction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Current Microsoft certification pathway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AI-103: Developing AI Apps and Agents on Azure · skills measured from 16 Apr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Microsoft Learn · AI-103 Study Guide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READ 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approved slides and Learner Guide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 discussion or shared answers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Answer every K/A criterion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Upload through the LMS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APPROVED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WA-SAQ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 open-ended questions · K1–K6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 lab-evidence tasks · A1–A6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60 minutes each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OUTCOME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Competent / Not Yet Competent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WA-SAQ · 60 min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Submit on LMS + sign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Download the learner materials and submit the two candidate papers on the 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  <a:hlinkClick r:id="rId2"/>
              </a:rPr>
              <a:t>LMS-TMS · Courseware and 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Clone the repository or use GitHub · Code · Download ZIP; every lab has its own folder and detailed README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GitHub · AI-103 Hands-On Labs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Planning · governance · generative AI · agents · vision ·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Plan, secure, and operate Foundry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PLAN &amp; MANAGE · AI-103 25–30%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PLAN &amp; MANAGE · AI-103 25–30%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Managed identity + least-privilege RBAC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Private endpoint + controlled egress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Foundry project, models, tools, connections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Azure Monitor logs, metrics, traces, alerts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Classify workload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Select service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Provision identity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Apply network controls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Observe SLOs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Project endpoint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https://&lt;resource&gt;.services.ai.azure.com/api/projects/&lt;project&gt;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Foundry SDK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Auth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DefaultAzureCredential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Entra token; avoid embedded keys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RBAC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Cognitive Services User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Data-plane inference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Diagnostics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RequestResponse + Audit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Send to Log Analytics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from azure.identity import DefaultAzureCredential
from azure.ai.projects import AIProjectClient
client = AIProjectClient(endpoint=PROJECT_ENDPOINT,
                         credential=DefaultAzureCredential())
for conn in client.connections.list():
    print(conn.name, conn.type)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dashboard: availability is a percentage; other values are normalized to target. Investigate any measure below its target band.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the workload need Foundry-native agents, evaluation, or tracing?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Foundry SDK + project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the task-specific Foundry Tool or OpenAI-compatible endpoint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Plan, secure, and operate Foundry services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401 / 403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Identity lacks data-plane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Verify principal, scope, and token audience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429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Quota or rate limit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Retry with backoff; request quota or scale units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Network/DNS/private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Resolve FQDN from workload subnet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Blind spot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Diagnostics not routed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Enable categories and alert ownership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01: Plan, Manage, Monitor, and Secure an Azure AI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Plan, secure, and operate Foundry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Map Requirements to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Foundry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Monitoring and Cost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Draw Architecture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a service map, security plan, monitoring plan, and architecture diagram.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01 · labs/lab-01-plan-manage-secure-azure-ai-solution/README.md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01: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resource topology, RBAC assignment, private connectivity decision, successful SDK call, and an alert driven by a real metric.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Responsible AI, content safety, and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PLAN &amp; MANAGE · AI-103 25–30%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GENERATED CONCEPT VISUAL + EDITABLE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Responsible AI, content safety, and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102-responsible-ai-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7406640" cy="4434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755648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75564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88366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Prompt shields + content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816352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94436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Model policy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20954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Deployment filters + approved model/version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877056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877056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400507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Output guard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427024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Severity thresholds + groundedness checks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4937760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4937760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506577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3309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Human escalation + audit + incident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PLAN &amp; MANAGE · AI-103 25–30%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 guard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Prompt shields + content classification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Model policy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Deployment filters + approved model/version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Output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Severity thresholds + groundedness checks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Human escalation + audit + incident response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Discover risk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Measure baseline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Mitigate controls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Release with limits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Monitor &amp; improve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Hate / Sexual / Violence / Self-harm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severity 0–6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Block at policy threshold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Prompt attack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direct / indirect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Reject, sanitize, or isolate tools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PII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category + offset + confidence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Redact or route to reviewer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Decision record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model, dataset, metric, owner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Versioned audit evidence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POST /contentsafety/text:analyze?api-version=2024-09-01
{
  "text": user_text,
  "categories": ["Hate", "Violence", "SelfHarm", "Sexual"],
  "outputType": "FourSeverityLevels"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evaluation set: tune policy against both unsafe misses and legitimate-content false positives; one aggregate safety score is insufficient.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Could a model action create material harm or irreversible change?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Require human approval and durable audit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Automate within tested thresholds and monitor exceptions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Responsible AI, content safety, and governance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Over-blocking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Threshold too conservative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Segment policy by channel and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Jailbreak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Instruction hierarchy compromised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Isolate untrusted content and tools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Data leak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Prompt/output contains sensitive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Redact, minimize retention, restrict logging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 owner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Incident cannot be escalated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Name response owner and SLA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02: Responsible AI, Content Safety,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Responsible AI, content safety, and 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Review Responsible AI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Define Content Safety Controls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Create a Safety Policy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Test Governance Scenarios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Create an Incident Plan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responsible AI controls, safety policy, scenario decisions, and incident plan.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02 · labs/lab-02-responsible-ai-content-safety-governance/README.md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02: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risk register, test dataset, per-category confusion matrix, filter configuration, exception workflow, and incident rehearsal result.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Generative AI apps and grounded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GENERATIVE AI &amp; AGENTS · AI-103 30–35%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GENERATIVE AI &amp; AGENTS · AI-103 30–35%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 apps and grounded RAG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Chunk, clean, enrich, preserve source 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Text + vector fields in one search index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Hybrid search + filters + semantic rerank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Grounded prompt + citations + evaluation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 apps and grounded RAG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Load corpus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Chunk + embed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Index metadata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Retrieve top-k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with citations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 apps and grounded RAG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chunk_id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string, key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Stable evidence identifier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content_vector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Collection(Edm.Single)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Dimensions match embedding model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filter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tenant_id eq 'T-42'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Security boundary before generation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top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5–20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Recall/latency trade-off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 apps and grounded RAG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response = openai.responses.create(
    model=DEPLOYMENT,
    input=[{"role": "user", "content": question}],
    tools=[{"type": "file_search",
            "vector_store_ids": [STORE_ID]}]
)
print(response.output_text)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 apps and grounded RAG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grounded-answer score: hybrid retrieval improves recall; reranking improves ordering; security filters may reduce recall and must be measured per tenant.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 apps and grounded RAG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missing/current knowledge the primary failure?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RAG with governed sources and citations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fine-tuning only for repeatable behavior/style changes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AI apps and grounded RAG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Hallucination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Context absent or ignored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Require citations; answer 'not found'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Dimension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Index and query embeddings differ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one embedding model/config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Leakage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Filter applied after retrieval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Filter at query/index boundary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Stale corpus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Indexer watermark failed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Track source version and last-success time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03: Generative AI, Foundry, Azure OpenAI, Foundry Workflow, RAG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Generative AI apps and grounded 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Select a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Prompt Templates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Foundry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Evaluate Outputs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model selection notes, prompt templates, tool-augmented workflow diagram, RAG design, and evaluation table.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03 · labs/lab-03-generative-ai-foundry-openai-prompt-flow-rag/README.md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03: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chunk sample, index schema, hybrid query trace, cited answer, groundedness score, latency, and a negative test with no supporting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Agents, tools, memory, and multi-agent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GENERATIVE AI &amp; AGENTS · AI-103 30–35%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GENERATIVE AI &amp; AGENTS · AI-103 30–35%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Instructions + model + tool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Typed schema, narrow permissions, timeouts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Conversation/session state separated by user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Tracing, approvals, budgets, kill switch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Receive goal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Plan next 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Call approved tool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Inspect observation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Stop or continue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Tool schema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name + JSON parameters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 unknown arguments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Identity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Dedicated agent principal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No shared admin identity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Budget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max turns / tokens / cost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Hard termination condition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Trace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span, tool call, result, decision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Replayable evidence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agent = project.agents.create_version(
    agent_name="support-triage",
    definition=PromptAgentDefinition(
        model=MODEL_DEPLOYMENT,
        instructions=SYSTEM_POLICY,
        tools=[search_tool, ticket_tool]))
print(agent.id, agent.version)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operational complexity index: add hosting and orchestration only when autonomy, custom code, or specialization justifies extra identity, state, and observability controls.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Can one bounded agent complete the task with one identity and tool set?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Prefer one agent; simpler state and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Split specialists and add explicit handoff/orchestrator contracts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Agents, tools, memory, and multi-agent control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Tool abuse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Broad permissions or weak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Allow-list actions and validate arguments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 stop 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Turn/time/cost budgets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Cross-user 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Memory partition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Key state by tenant + user + session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Opaque 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Agent loses context/owner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Typed handoff payload + trace link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04: Agentic AI, Foundry Agent Service, Multi-Agent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Agents, tools, memory, and multi-agent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Define Agent 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Agent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Tool Calls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Orchestration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Multi-Agent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agent use case, resource plan, tool table, orchestration diagram, and multi-agent notes.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04 · labs/lab-04-agentic-ai-foundry-agent-service/README.md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04: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agent definition/version, tool schemas, least-privilege identity, approval gate, trace showing tool call/result, budget exhaustion test, and handoff test.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Image/video generation and multimodal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COMPUTER VISION · AI-103 10–15%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COMPUTER VISION · AI-103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Image/video generation and multimodal understanding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Brief or visual media + rights/consent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Generation, editing, or multimodal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Guardrail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Safety filter + visual claim review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Asset, caption, alt text, grounded answer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Image/video generation and multimodal understanding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Validate media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Choose model/task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Generate or analyze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Check evidence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Human approve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Image/video generation and multimodal understanding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asset_id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stable source/output 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Provenance and rollback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model_version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pinned deployment/version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Reproducible evaluation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claim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text + source evidence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 unsupported product facts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review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approved + reason + owner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Publication gate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Image/video generation and multimodal understanding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brief = {"capacity_ml": 500, "allowed_claims": ["reusable"]}
claims = ["reusable", "48-hour cooling"]
unsupported = set(claims) - set(brief["allowed_claims"])
assert not unsupported, f"Reject unsupported claims: {unsupported}"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Image/video generation and multimodal understanding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Illustrative review set (%): generation quality alone does not grant publication; groundedness, safety, accessibility, and human approval are separate gates.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Image/video generation and multimodal understanding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the task create new media or interpret existing visual evidence?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generation/editing with brand and safety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multimodal understanding with provenance and grounded answers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Image/video generation and multimodal understanding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Fabricated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Output exceeds source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Compare with approved attributes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Prompt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Text embedded in image instructs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Treat media as untrusted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Accessibility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Alt text omits visual 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Evaluate against source image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Reference media lacks permission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Validate provenance and consent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05: Image and Video Generation, Multimodal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Image/video generation and multimodal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Select the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generation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Review a synthetic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Optional live Foundry extension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Architecture and failure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A complete submission has the decision table, prompt and model record, `review.json`, passing local validation, architecture, and one rejected output with a cited reason. Live Foundry evidence is optional and must be labeled separately.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05 · labs/lab-05-image-video-generation-multimodal/README.md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05: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task selection, source brief, model/version, prompt, generated or sample output, caption and alt text, claim/safety review, and human publication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Language, speech, translation, and SSML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TEXT ANALYSIS · AI-103 10–15%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TEXT ANALYSIS · AI-103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Language detection, entities, sentiment, PII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Speech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STT/TTS + custom speech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Translation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Text/document/speech translation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Locale, pronunciation, latency, fallback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Detect locale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Transcribe / parse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Extract meaning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Translate / synthesize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Validate quality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language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en-SG / zh-Hans / auto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Affects model and voice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offset + length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Unicode text span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Preserve source mapping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SSML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voice, prosody, phoneme, break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Controlled speech output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recognition result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text + reason + duration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Handle NoMatch/Canceled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&lt;speak version="1.0" xml:lang="en-SG"&gt;
  &lt;voice name="en-SG-LunaNeural"&gt;
    Your request is &lt;prosody rate="-5%"&gt;approved&lt;/prosody&gt;.
  &lt;/voice&gt;
&lt;/speak&gt;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word error rate (%): acoustic context changes recognition quality. Test the real channel and vocabulary; do not accept a studio-only benchmark.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the application need deterministic intents/entities or flexible generation?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Azure Language or typed structured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generative model with schema validation and safety controls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Language, speech, translation, and SSML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NoMatch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Audio/language mismatch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Inspect reason and locale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PII leak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Transcript retained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Redact before logging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Bad pronunciation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Voice/phoneme mismatch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SSML phoneme/lexicon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Translation drift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Domain terms mistranslated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Glossary/custom model +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06: NLP, Language, Speech, Translation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Language, speech, translation, and SSML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Map Language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Text Analysis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Speech 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SSML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Translation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language task mapping, text pipeline, speech pipeline, SSML notes, and translation notes.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06 · labs/lab-06-nlp-language-speech-translation/README.md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06: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multilingual samples, PII span/redaction, recognition reasons, SSML output, word-error-rate sample, and human review for domain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Custom language · search · information extraction · capstone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Generative text analysis and translation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TEXT ANALYSIS · AI-103 10–15%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TEXT ANALYSIS · AI-103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text analysis and translation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Source message + language + provenance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Topic, entities, sentiment, summary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Typed JSON + exact evidence spans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Route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PII gate, human review, agent tool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text analysis and translation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Detect language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Extract typed fields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Verify source spans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Redact sensitive 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08A7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Route for review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text analysis and translation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08A73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message_id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stable source 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Traceability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evidence_span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exact source substring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Reject unsupported claims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sensitive_content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boolean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Review and redact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review_required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boolean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No unsafe auto-action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text analysis and translation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record = {"message_id": "M1", "evidence_span": "refund for order 12345"}
source = "I need a refund for order 12345."
assert record["evidence_span"] in source
# Validate every generated field before an agent uses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text analysis and translation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Illustrative evaluation set (%): report source-grounded extraction, translation fidelity, and sensitive-content handling separately.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text analysis and translation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08A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Can typed fields be supported by exact source spans?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Accept schema-valid result after policy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Require human review or a deterministic service fallback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Generative text analysis and translation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Invented 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Model guesses a customer 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Require exact evidence span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PII leak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Identifier enters logs or 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Redact before routing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Translation drift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Domain term changes meaning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Compare source and translation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Bad JSON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Agent tool receives malformed output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Validate types and required fields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07: Generative Text Analysis and Translation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Generative text analysis and translation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Define the output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Evaluate the 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the Foundry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Compare translation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8A73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Add agent integration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Submit `analysis.json`, the validator PASS output, prompt, translation comparison, and agent data-flow. Each record must have a source-bound evidence span, correct sensitive-content decision, and no invented entity. Live service evidence is optional and must be labeled separately.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07 · labs/lab-07-generative-text-analysis/README.md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07: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synthetic source messages, typed JSON, exact spans, sensitive-content decision, translation comparison, validator output, and agent routing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TOPIC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Knowledge retrieval, indexing, and grounding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INFORMATION EXTRACTION · AI-103 10–15%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INFORMATION EXTRACTION · AI-103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Knowledge retrieval, indexing, and grounding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Blob/SQL/Cosmos data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Enrichment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Indexer + skillset + cache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Text, filters, vectors, semantic config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BM25 + vector + RRF + semantic rerank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Knowledge retrieval, indexing, and grounding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Crack documents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Enrich skills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Project fields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 vector index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Hybrid query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Knowledge retrieval, indexing, and grounding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6845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key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Edm.String, key=true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Unique document/chunk 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vector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Collection(Edm.Single)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Dimensions + HNSW profile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search/filter/select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query contract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Reduce exposure and payload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scores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@search.score / rerankerScore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Different scales; do not compare directly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Knowledge retrieval, indexing, and grounding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{
  "search": "maintenance policy",
  "vectorQueries": [{"kind": "text", "text": "maintenance policy",
+                       "fields": "content_vector"}],
  "queryType": "semantic",
  "filter": "tenant_id eq 'T-42'",
  "top": 5
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Knowledge retrieval, indexing, and grounding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nDCG@5: hybrid retrieval often improves coverage, while semantic reranking improves ordering. Validate with your own judged query 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Knowledge retrieval, indexing, and grounding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Must the system support exact terms, filters, and semantic similarity together?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hybrid query + filters + semantic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the simplest retrieval mode that meets measured relevance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Knowledge retrieval, indexing, and grounding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Indexer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Skill input path 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Inspect enrichment tree and field mappings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Empty 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Embedding skill/vectorizer failed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Check endpoint, dimensions, projection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Poor relevance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No judged query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Create labels and compare retrieval modes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Data leak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filterable security field absent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Enforce tenant/ACL filter before results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08: Azure AI Search, Knowledge Mining, Vector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Knowledge retrieval, indexing, and grounding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Design an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Plan Data Sources and Indexers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Define a Skillset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Query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6845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Knowledge Store Projections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index design, data source/indexer plan, skillset plan, query examples, and knowledge store notes.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08 · labs/lab-08-ai-search-knowledge-mining-vector-search/README.md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08: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index schema, data source/indexer/skillset JSON, successful run history, judged queries, hybrid trace, security-filter negative test, and knowledge-store projection.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Document Intelligence and Content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INFORMATION EXTRACTION · AI-103 10–15%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GENERATED CONCEPT VISUAL + EDITABLE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Document Intelligence and Content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102-multimodal-i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7406640" cy="4434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755648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75564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88366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Document/image/audio/video + content 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816352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94436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Analyzer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20954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Prebuilt/custom/composed/Content Understanding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877056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877056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400507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427024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Fields, tables, spans, confidence, provenance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4937760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4937760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506577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Downstream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3309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Validation, search, workflow,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INFORMATION EXTRACTION · AI-103 10–15%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Document/image/audio/video + content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Prebuilt/custom/composed/Content Understanding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Fields, tables, spans, confidence, provenance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Downstream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Validation, search, workflow, audit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Classify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Select analyzer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Extract structure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Validate confidence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Route downstream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1F6FEB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modelId / analyzerId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prebuilt or versioned custom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Release identity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pages / spans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offset + length + polygon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Trace extracted value to source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field-level 0–1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Drive review threshold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operation-location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async result URL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Poll until succeeded/failed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poller = client.begin_analyze_document(
    model_id="prebuilt-invoice",
    body=document_bytes,
    content_type="application/pdf")
result = poller.result()
for doc in result.documents:
    print(doc.fields["InvoiceTotal"].value_currency)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field F1: prebuilt models excel on supported formats; custom/composed models or Content Understanding address domain-specific and multimodal schemas.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input a supported document with a stable prebuilt schema?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a prebuilt Document Intelligence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Use custom/composed models or Content Understanding for multimodal/domain schemas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Document Intelligence and Content Understanding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Wrong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Document type misclassified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Classify first or use composed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Low confidence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Layout/domain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Human review + retraining sample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Async timeout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Polling/size/page limits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Honor operation status and limits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Lost provenance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Value stored without span/page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Persist source URI + region/span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Lab 09: Document Intelligence and Content Understanding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Document Intelligence and Content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Map Document Scenarios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Custom Document Model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Content Understanding Plan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Human Review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Integration 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scenario mapping, custom model plan, content understanding plan, review rules, and integration flow.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09 · labs/lab-09-document-intelligence-content-understanding/README.md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09: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Evidence pack: analyzer/model ID, sample result JSON, source polygons/spans, field-level metrics, review threshold, failure sample, and downstream search/workflow record.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61B26"/>
                </a:solidFill>
                <a:latin typeface="Arial"/>
              </a:rPr>
              <a:t>Capstone: production AI solution decision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CAPSTONE · INTEGRATE, OPERATE, AND IMPROVE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GENERATED CONCEPT VISUAL + EDITABLE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Capstone: production AI solution decision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i102-foundry-control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7406640" cy="4434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755648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75320" y="1755648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22208" y="1883664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8" y="21488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API/UI + accessibility + fallback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816352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22208" y="294436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8" y="3209544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Model/agent + retrieval + extraction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877056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3877056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400507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4270248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Identity, network, data,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20" y="4937760"/>
            <a:ext cx="321868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75320" y="4937760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5065776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5330952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161B26"/>
                </a:solidFill>
                <a:latin typeface="Arial"/>
              </a:rPr>
              <a:t>SLOs, evaluation, audit, incident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CAPSTONE · INTEGRATE, OPERATE, AND IMPROVE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API/UI + accessibility + fallback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Model/agent + retrieval + extraction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Identity, network, data, deployment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SLOs, evaluation, audit, incident response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NAMED STATES AND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runtime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Frame outcome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Map risks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Prototype evidence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Release gates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Operate &amp; improve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FIELDS · ENDPOINTS ·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exact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37360"/>
          <a:ext cx="10835640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069080"/>
                <a:gridCol w="4617720"/>
              </a:tblGrid>
              <a:tr h="813816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Contract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Exact value / field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Engineering consequence</a:t>
                      </a:r>
                    </a:p>
                  </a:txBody>
                  <a:tcPr marL="109728" marR="109728" marT="73152" marB="73152">
                    <a:solidFill>
                      <a:srgbClr val="6D3FD2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ADR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context, decision, alternatives, consequence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Auditable design rationale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SLO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availability, p95, quality, cost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Named owner + error budget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Evaluation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dataset, metric, threshold, version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Reproducible release gate</a:t>
                      </a:r>
                    </a:p>
                  </a:txBody>
                  <a:tcPr marL="109728" marR="109728" marT="73152" marB="73152">
                    <a:solidFill>
                      <a:srgbClr val="F5F8FC"/>
                    </a:solidFill>
                  </a:tcPr>
                </a:tc>
              </a:tr>
              <a:tr h="8138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Runbook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signal, diagnosis, containment, recovery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61B26"/>
                          </a:solidFill>
                          <a:latin typeface="Arial"/>
                        </a:defRPr>
                      </a:pPr>
                      <a:r>
                        <a:t>Operational readiness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RUNNABLE / CONFIGURABLE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implementation excerpt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37360"/>
            <a:ext cx="6537960" cy="434340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37360"/>
            <a:ext cx="91440" cy="434340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5961888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CEBFF"/>
                </a:solidFill>
                <a:latin typeface="Consolas"/>
              </a:rPr>
              <a:t>release_gate = {
  "groundedness": {"min": 0.82},
  "unsafe_rate": {"max": 0.01},
  "p95_ms": {"max": 2500},
  "cost_per_case_sgd": {"max": 0.08}
}
assert all(check(metric, rule) for metric, rule in release_gate.items())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737360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52360" y="1737360"/>
            <a:ext cx="82296" cy="932688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883664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157984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Prefer Entra identity; keep secrets out of source.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2816352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2816352"/>
            <a:ext cx="82296" cy="932688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2962656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36976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Pin endpoint/API/model versions and validate schema.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52360" y="3895344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52360" y="3895344"/>
            <a:ext cx="82296" cy="932688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79" y="4041648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4315968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Log request IDs, deployment versions, and outcomes.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52360" y="4974336"/>
            <a:ext cx="4041648" cy="93268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4974336"/>
            <a:ext cx="82296" cy="932688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5120640"/>
            <a:ext cx="3383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5394959"/>
            <a:ext cx="3401568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Handle auth, quota, timeout, and invalid-state paths.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EDITABLE NATIVE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engineering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4672" y="1755648"/>
          <a:ext cx="10561320" cy="3337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4672" y="5285232"/>
            <a:ext cx="10561320" cy="694944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431536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WHAT THE DATA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1216" y="5394960"/>
            <a:ext cx="818387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61B26"/>
                </a:solidFill>
                <a:latin typeface="Arial"/>
              </a:rPr>
              <a:t>Indicative release scorecard normalized to target: a release fails when any hard safety/quality gate fails, even if the average score looks healthy.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CHOOSE FROM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decision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4370832" y="1719072"/>
            <a:ext cx="3456432" cy="2377440"/>
          </a:xfrm>
          <a:prstGeom prst="diamond">
            <a:avLst/>
          </a:prstGeom>
          <a:solidFill>
            <a:srgbClr val="EAF3FF"/>
          </a:solidFill>
          <a:ln w="10160">
            <a:solidFill>
              <a:srgbClr val="6D3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240487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Does every material risk have a tested control, owner, and observable signal?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434840"/>
            <a:ext cx="4846320" cy="1143000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3952" y="4434840"/>
            <a:ext cx="4846320" cy="1143000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C77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645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590288"/>
            <a:ext cx="36118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Approve staged release with rollback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4645152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4590288"/>
            <a:ext cx="36576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Return to design/evaluation; do not average away a failed gate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310128" y="3730752"/>
            <a:ext cx="1609344" cy="704088"/>
          </a:xfrm>
          <a:prstGeom prst="line">
            <a:avLst/>
          </a:prstGeom>
          <a:ln w="25400">
            <a:solidFill>
              <a:srgbClr val="16845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78624" y="3730752"/>
            <a:ext cx="1609344" cy="704088"/>
          </a:xfrm>
          <a:prstGeom prst="line">
            <a:avLst/>
          </a:prstGeom>
          <a:ln w="25400">
            <a:solidFill>
              <a:srgbClr val="C776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DIAGNOSE BEFORE RETRY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1B26"/>
                </a:solidFill>
                <a:latin typeface="Arial"/>
              </a:rPr>
              <a:t>Capstone: production AI solution decision record · failure and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Metric gaming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One aggregate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Use per-risk hard gates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15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015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027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27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513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 rollback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Model/index change irreversible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93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Blue/green assets + pinned versions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459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45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Cost surprise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Token/vector/skill usage unbounded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Budgets, caching, quotas, alerts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755648"/>
            <a:ext cx="2487168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755648"/>
            <a:ext cx="2487168" cy="109728"/>
          </a:xfrm>
          <a:prstGeom prst="rect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066543"/>
            <a:ext cx="438912" cy="438912"/>
          </a:xfrm>
          <a:prstGeom prst="ellipse">
            <a:avLst/>
          </a:prstGeom>
          <a:solidFill>
            <a:srgbClr val="C24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89136" y="2167128"/>
            <a:ext cx="4389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066543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No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743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2413A"/>
                </a:solidFill>
                <a:latin typeface="Arial"/>
              </a:rPr>
              <a:t>LIKELY CAUSE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25712" y="3017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Decision cannot be audited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25712" y="3886200"/>
            <a:ext cx="19933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6845B"/>
                </a:solidFill>
                <a:latin typeface="Arial"/>
              </a:rPr>
              <a:t>CONTROL / RECOVERY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4160520"/>
            <a:ext cx="1993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61B26"/>
                </a:solidFill>
                <a:latin typeface="Arial"/>
              </a:rPr>
              <a:t>Bundle ADR, tests, traces, runbook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413248"/>
            <a:ext cx="10835640" cy="47548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559552"/>
            <a:ext cx="10332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 control is incomplete until it has a detection signal, owner, containment action, and recovery test.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HANDS-ON PRACTICE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10: AI-103 Capstone and Course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1065276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Mechanism focus: Capstone: production AI solution decision record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19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19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Build a Service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265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02736" y="2633472"/>
            <a:ext cx="594360" cy="59436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Draw the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7216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97296" y="2633472"/>
            <a:ext cx="594360" cy="59436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7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Add Governance Controls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42631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82711" y="2633472"/>
            <a:ext cx="594360" cy="594360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Rate Skill 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2999232"/>
            <a:ext cx="228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37192" y="2395728"/>
            <a:ext cx="1874519" cy="1600200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77272" y="2633472"/>
            <a:ext cx="594360" cy="59436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2" y="2779776"/>
            <a:ext cx="594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01784" y="3383280"/>
            <a:ext cx="154533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>
                <a:solidFill>
                  <a:srgbClr val="161B26"/>
                </a:solidFill>
                <a:latin typeface="Arial"/>
              </a:rPr>
              <a:t>Clean Up Resources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352544"/>
            <a:ext cx="10634472" cy="749808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4535424"/>
            <a:ext cx="18745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YOU WILL PRODUCE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4480560"/>
            <a:ext cx="8183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You should have a service map, architecture diagram, governance checklist, confidence matrix, cleanup plan, and review plan.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413248"/>
            <a:ext cx="10634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Complete click-by-click procedure: Learner Guide · Lab 10 · labs/lab-10-ai103-capstone-course-review/README.md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VERIFY · DIAGNOSE ·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10: acceptance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29400" cy="3456432"/>
          </a:xfrm>
          <a:prstGeom prst="roundRect">
            <a:avLst/>
          </a:prstGeom>
          <a:solidFill>
            <a:srgbClr val="E8F7EE"/>
          </a:solidFill>
          <a:ln w="10160">
            <a:solidFill>
              <a:srgbClr val="168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84831"/>
            <a:ext cx="5989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PASS 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542032"/>
            <a:ext cx="598932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1B26"/>
                </a:solidFill>
                <a:latin typeface="Arial"/>
              </a:rPr>
              <a:t>Capstone evidence: architecture and data flow, ADR, threat/risk model, evaluation report, SLO dashboard, cost estimate, deployment/rollback plan, runbook, and improvement backlog.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783080"/>
            <a:ext cx="3767328" cy="3456432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C24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36992" y="2084831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IF IT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6992" y="2542032"/>
            <a:ext cx="30632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1. Capture request/operation ID
2. Verify identity and endpoint
3. Inspect schema/model version
4. Check quota/network/status
5. Preserve evidence before retry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68112"/>
            <a:ext cx="10625328" cy="438912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5596128"/>
            <a:ext cx="101955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40" b="1">
                <a:solidFill>
                  <a:srgbClr val="1F6FEB"/>
                </a:solidFill>
                <a:latin typeface="Arial"/>
              </a:rPr>
              <a:t>Assessment bridge: submit the observable artifact and explain why the evidence proves the stated TSC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Assessment and course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Evidence submission · assessment flow ·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CLICKABLE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Course enquiries and 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10497312" cy="3310128"/>
          </a:xfrm>
          <a:prstGeom prst="round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0432" y="2267712"/>
            <a:ext cx="97840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61B26"/>
                </a:solidFill>
                <a:latin typeface="Arial"/>
              </a:rPr>
              <a:t>Contact Tertiary Courses for current course details, schedules, and registration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90672"/>
            <a:ext cx="90982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F6FEB"/>
                </a:solidFill>
                <a:latin typeface="Arial"/>
                <a:hlinkClick r:id="rId2"/>
              </a:rPr>
              <a:t>Tertiary Courses · Course Enquiries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4069080"/>
            <a:ext cx="3493008" cy="566928"/>
          </a:xfrm>
          <a:prstGeom prst="round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4242816"/>
            <a:ext cx="34930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OPEN RESOURCE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FINAL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WA-SAQ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60 min · K1–K6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60 min · A1–A6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Approved materials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SUBMIT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Candidate papers on LMS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END-OF-COURSE REMINDER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4168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4168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TRAQOM digital 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355848"/>
            <a:ext cx="310896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96265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2656" y="1920240"/>
            <a:ext cx="1874519" cy="9144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304288"/>
            <a:ext cx="749808" cy="749808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37176" y="3355848"/>
            <a:ext cx="320040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57216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7216" y="1920240"/>
            <a:ext cx="1874519" cy="9144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2304288"/>
            <a:ext cx="749808" cy="749808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WA-SAQ · 60 min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355848"/>
            <a:ext cx="310895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7342631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2631" y="1920240"/>
            <a:ext cx="1874519" cy="9144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9559" y="2304288"/>
            <a:ext cx="749808" cy="749808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5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93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17151" y="3355848"/>
            <a:ext cx="320041" cy="0"/>
          </a:xfrm>
          <a:prstGeom prst="line">
            <a:avLst/>
          </a:prstGeom>
          <a:ln w="25400">
            <a:solidFill>
              <a:srgbClr val="6D3FD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537192" y="1920240"/>
            <a:ext cx="1874519" cy="2880360"/>
          </a:xfrm>
          <a:prstGeom prst="rect">
            <a:avLst/>
          </a:prstGeom>
          <a:solidFill>
            <a:srgbClr val="F5F8FC"/>
          </a:solidFill>
          <a:ln w="1016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7192" y="1920240"/>
            <a:ext cx="1874519" cy="914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04119" y="230428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04119" y="2487168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3364992"/>
            <a:ext cx="1581912" cy="10607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Submit on LMS + sign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084064"/>
            <a:ext cx="10634472" cy="658368"/>
          </a:xfrm>
          <a:prstGeom prst="rect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" y="5303520"/>
            <a:ext cx="10195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1F6FEB"/>
                </a:solidFill>
                <a:latin typeface="Arial"/>
              </a:rPr>
              <a:t>Each stage emits evidence for the next stage; a missing transition or identifier is an observable contract failure.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1083564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82296" cy="2331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1938528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Use the LMS/TMS QR code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01568" y="1755648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21024" y="1938528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210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digital attendance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55648"/>
            <a:ext cx="82296" cy="2331720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64224" y="1938528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Confirm attendance recorded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755648"/>
            <a:ext cx="2487168" cy="233172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755648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07424" y="193852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2039112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901952"/>
            <a:ext cx="148132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61B26"/>
                </a:solidFill>
                <a:latin typeface="Arial"/>
              </a:rPr>
              <a:t>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496312"/>
            <a:ext cx="199339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Complete Assessment Summary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315968"/>
            <a:ext cx="10835640" cy="12344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17136"/>
            <a:ext cx="10241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ARCHITECTURE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10149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61B26"/>
                </a:solidFill>
                <a:latin typeface="Arial"/>
              </a:rPr>
              <a:t>Keep identity, data, runtime state, and evidence boundaries explicit; every connection needs an owner, contract, and observable failure signal.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961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TOPIC 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525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58768"/>
            <a:ext cx="89611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5B6372"/>
                </a:solidFill>
                <a:latin typeface="Arial"/>
              </a:rPr>
              <a:t>You can now explain, test, and operate an end-to-end Azure AI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901952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5400" b="1">
                <a:solidFill>
                  <a:srgbClr val="DDE6F0"/>
                </a:solidFill>
                <a:latin typeface="Arial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846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Developing AI Apps and Agents on Azure (AI-103) · TGS-2023036651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419088"/>
            <a:ext cx="3840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27080" y="64190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med" advClick="1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