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availability</c:v>
                </c:pt>
                <c:pt idx="1">
                  <c:v>p95 latency</c:v>
                </c:pt>
                <c:pt idx="2">
                  <c:v>error rate</c:v>
                </c:pt>
                <c:pt idx="3">
                  <c:v>cost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99.95</c:v>
                </c:pt>
                <c:pt idx="1">
                  <c:v>82</c:v>
                </c:pt>
                <c:pt idx="2">
                  <c:v>1.2</c:v>
                </c:pt>
                <c:pt idx="3">
                  <c:v>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6D3FD2"/>
            </a:solidFill>
          </c:spPr>
          <c:cat>
            <c:strRef>
              <c:f>Sheet1!$A$2:$A$5</c:f>
              <c:strCache>
                <c:ptCount val="4"/>
                <c:pt idx="0">
                  <c:v>allowed</c:v>
                </c:pt>
                <c:pt idx="1">
                  <c:v>review</c:v>
                </c:pt>
                <c:pt idx="2">
                  <c:v>blocked</c:v>
                </c:pt>
                <c:pt idx="3">
                  <c:v>false positive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</c:v>
                </c:pt>
                <c:pt idx="1">
                  <c:v>11</c:v>
                </c:pt>
                <c:pt idx="2">
                  <c:v>12</c:v>
                </c:pt>
                <c:pt idx="3">
                  <c:v>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hybrid</c:v>
                </c:pt>
                <c:pt idx="2">
                  <c:v>+ reranker</c:v>
                </c:pt>
                <c:pt idx="3">
                  <c:v>+ filters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0.54</c:v>
                </c:pt>
                <c:pt idx="1">
                  <c:v>0.72</c:v>
                </c:pt>
                <c:pt idx="2">
                  <c:v>0.81</c:v>
                </c:pt>
                <c:pt idx="3">
                  <c:v>0.79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16845B"/>
            </a:solidFill>
          </c:spPr>
          <c:cat>
            <c:strRef>
              <c:f>Sheet1!$A$2:$A$4</c:f>
              <c:strCache>
                <c:ptCount val="3"/>
                <c:pt idx="0">
                  <c:v>prompt agent</c:v>
                </c:pt>
                <c:pt idx="1">
                  <c:v>hosted agent</c:v>
                </c:pt>
                <c:pt idx="2">
                  <c:v>multi-agent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58</c:v>
                </c:pt>
                <c:pt idx="2">
                  <c:v>86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0.50</c:v>
                </c:pt>
                <c:pt idx="1">
                  <c:v>0.65</c:v>
                </c:pt>
                <c:pt idx="2">
                  <c:v>0.80</c:v>
                </c:pt>
                <c:pt idx="3">
                  <c:v>0.90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86</c:v>
                </c:pt>
                <c:pt idx="2">
                  <c:v>74</c:v>
                </c:pt>
                <c:pt idx="3">
                  <c:v>55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6D3FD2"/>
            </a:solidFill>
          </c:spPr>
          <c:cat>
            <c:strRef>
              <c:f>Sheet1!$A$2:$A$5</c:f>
              <c:strCache>
                <c:ptCount val="4"/>
                <c:pt idx="0">
                  <c:v>quiet</c:v>
                </c:pt>
                <c:pt idx="1">
                  <c:v>office</c:v>
                </c:pt>
                <c:pt idx="2">
                  <c:v>street</c:v>
                </c:pt>
                <c:pt idx="3">
                  <c:v>call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6.8</c:v>
                </c:pt>
                <c:pt idx="1">
                  <c:v>11.4</c:v>
                </c:pt>
                <c:pt idx="2">
                  <c:v>19.7</c:v>
                </c:pt>
                <c:pt idx="3">
                  <c:v>14.2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Sheet1!$A$2:$A$5</c:f>
              <c:strCache>
                <c:ptCount val="4"/>
                <c:pt idx="0">
                  <c:v>billing</c:v>
                </c:pt>
                <c:pt idx="1">
                  <c:v>returns</c:v>
                </c:pt>
                <c:pt idx="2">
                  <c:v>delivery</c:v>
                </c:pt>
                <c:pt idx="3">
                  <c:v>none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</c:v>
                </c:pt>
                <c:pt idx="1">
                  <c:v>0.82</c:v>
                </c:pt>
                <c:pt idx="2">
                  <c:v>0.76</c:v>
                </c:pt>
                <c:pt idx="3">
                  <c:v>0.41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16845B"/>
            </a:solidFill>
          </c:spPr>
          <c:cat>
            <c:strRef>
              <c:f>Sheet1!$A$2:$A$5</c:f>
              <c:strCache>
                <c:ptCount val="4"/>
                <c:pt idx="0">
                  <c:v>BM25</c:v>
                </c:pt>
                <c:pt idx="1">
                  <c:v>vector</c:v>
                </c:pt>
                <c:pt idx="2">
                  <c:v>hybrid RRF</c:v>
                </c:pt>
                <c:pt idx="3">
                  <c:v>+ semantic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0.61</c:v>
                </c:pt>
                <c:pt idx="1">
                  <c:v>0.69</c:v>
                </c:pt>
                <c:pt idx="2">
                  <c:v>0.78</c:v>
                </c:pt>
                <c:pt idx="3">
                  <c:v>0.84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invoice</c:v>
                </c:pt>
                <c:pt idx="1">
                  <c:v>receipt</c:v>
                </c:pt>
                <c:pt idx="2">
                  <c:v>contract</c:v>
                </c:pt>
                <c:pt idx="3">
                  <c:v>mixed media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0.94</c:v>
                </c:pt>
                <c:pt idx="1">
                  <c:v>0.91</c:v>
                </c:pt>
                <c:pt idx="2">
                  <c:v>0.79</c:v>
                </c:pt>
                <c:pt idx="3">
                  <c:v>0.73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6D3FD2"/>
            </a:solidFill>
          </c:spPr>
          <c:cat>
            <c:strRef>
              <c:f>Sheet1!$A$2:$A$5</c:f>
              <c:strCache>
                <c:ptCount val="4"/>
                <c:pt idx="0">
                  <c:v>quality</c:v>
                </c:pt>
                <c:pt idx="1">
                  <c:v>safety</c:v>
                </c:pt>
                <c:pt idx="2">
                  <c:v>latency</c:v>
                </c:pt>
                <c:pt idx="3">
                  <c:v>cost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</c:v>
                </c:pt>
                <c:pt idx="1">
                  <c:v>99</c:v>
                </c:pt>
                <c:pt idx="2">
                  <c:v>78</c:v>
                </c:pt>
                <c:pt idx="3">
                  <c:v>84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redentials/certifications/resources/study-guides/ai-103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3036651-Microsoft-Certified-Azure-AI-Engineer-Associate-AI-102-Training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wsq-microsoft-certified-azure-ai-engineer-associate-ai-102-training.html" TargetMode="Externa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102-foundry-control-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502920"/>
            <a:ext cx="5943600" cy="53035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75488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481328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WSQ · INSTRUCTOR-LED · 2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51206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61B26"/>
                </a:solidFill>
                <a:latin typeface="Arial"/>
              </a:rPr>
              <a:t>Microsoft Certified Azure AI Engineer Associate AI-102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75887"/>
            <a:ext cx="5074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Course Code: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078224"/>
            <a:ext cx="50749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372"/>
                </a:solidFill>
                <a:latin typeface="Arial"/>
              </a:rPr>
              <a:t>Tertiary Infotech Academy Pte Ltd
UEN 201200696W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956048"/>
            <a:ext cx="2788920" cy="585216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513892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Version 2.0 · 26 Aug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TOPIC 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Course administration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WSQ requirements · learning outcomes · evidence expectations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Complete the morning attendance window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Complete the afternoon attendance window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Complete assessment attendance before sitting papers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ELIGIBILITY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At least 75% attendance and Competent outcome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TRAINING TEAM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3310128" cy="4069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19072" y="2240280"/>
            <a:ext cx="1426464" cy="142646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9072" y="2633472"/>
            <a:ext cx="14264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TIA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31920"/>
            <a:ext cx="27066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61B26"/>
                </a:solidFill>
                <a:latin typeface="Arial"/>
              </a:rPr>
              <a:t>Tertiary Infotech
Academy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599432"/>
            <a:ext cx="270662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>
                <a:solidFill>
                  <a:srgbClr val="5B6372"/>
                </a:solidFill>
                <a:latin typeface="Arial"/>
              </a:rPr>
              <a:t>Microsoft Azure AI
training team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755648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576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1883664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865376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Tertiary Infotech Academy Trainer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8" y="2432304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7408" y="2432304"/>
            <a:ext cx="73152" cy="576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2560320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TITLE / DESIGNATION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542032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WSQ Technical Trainer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3108960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07408" y="3108960"/>
            <a:ext cx="73152" cy="576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3236976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8A73"/>
                </a:solidFill>
                <a:latin typeface="Arial"/>
              </a:rPr>
              <a:t>QUALIFICATIONS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218688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Azure AI and adult-learning credentials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785616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3785616"/>
            <a:ext cx="73152" cy="57607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391363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AREAS OF EXPERTISE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895344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Microsoft Foundry, Azure AI services, MLOps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8" y="4462272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07408" y="4462272"/>
            <a:ext cx="73152" cy="576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4590288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572000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Applied cloud AI delivery and facilitation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5138928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07408" y="5138928"/>
            <a:ext cx="73152" cy="576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1728" y="5266944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248656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Introduced during the opening briefing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3310128" cy="4069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19072" y="2240280"/>
            <a:ext cx="1426464" cy="14264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9072" y="2633472"/>
            <a:ext cx="14264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31920"/>
            <a:ext cx="27066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599432"/>
            <a:ext cx="270662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>
                <a:solidFill>
                  <a:srgbClr val="5B6372"/>
                </a:solidFill>
                <a:latin typeface="Arial"/>
              </a:rPr>
              <a:t>Principal Trainer
AI, automation, and software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755648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576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1883664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865376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8" y="2432304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7408" y="2432304"/>
            <a:ext cx="73152" cy="576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2560320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TITLE / DESIGNATION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542032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Principal Trainer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3108960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07408" y="3108960"/>
            <a:ext cx="73152" cy="576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3236976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8A73"/>
                </a:solidFill>
                <a:latin typeface="Arial"/>
              </a:rPr>
              <a:t>QUALIFICATIONS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218688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PhD; Azure AI and software engineering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785616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3785616"/>
            <a:ext cx="73152" cy="57607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391363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AREAS OF EXPERTISE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895344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AI solutions, agents, automation, apps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8" y="4462272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07408" y="4462272"/>
            <a:ext cx="73152" cy="576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4590288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572000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Industry implementation and adult learning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5138928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07408" y="5138928"/>
            <a:ext cx="73152" cy="576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1728" y="5266944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248656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Shared during class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PUNCTUAL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Return from breaks on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PARTICIPATE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Explain decisions and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PROTECT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Use synthetic/non-confidential inputs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ASK EARLY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Raise blockers before they cascade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TSC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Analyse Azure AI algorithms and efficiency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Evaluate strengths and limitations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Assess feasibility and improvements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Explain what proves each conclusion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9:00 AM–6:00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Two-Day Lesson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DAY 1 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Planning, governance, generative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DAY 1 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Agents, vision, language/speech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DAY 2 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Custom language, search, extraction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DAY 2 PM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Capstone + 2-hour assessment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CURRENT AS OF 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AI-102 Exam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RETIRED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AI-102 retired 30 Jun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Final blueprint dated 23 Dec 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COURSE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Approved WSQ title/code remain unchanged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SUCCESSOR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Use AI-103 for current certification path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CLICKABLE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Current Microsoft certification pathway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10497312" cy="3310128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267712"/>
            <a:ext cx="9784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AI-103: Developing AI Apps and Agents on Azure · skills measured from 16 Apr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90672"/>
            <a:ext cx="9098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  <a:hlinkClick r:id="rId2"/>
              </a:rPr>
              <a:t>Microsoft Learn · AI-103 Study Guide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4069080"/>
            <a:ext cx="3493008" cy="56692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4242816"/>
            <a:ext cx="3493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OPEN 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READ 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Use approved slides and Learner Guide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INDIVIDUAL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No discussion or shared answers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Answer every K/A criterion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Upload through the LMS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APPROVED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WA-SAQ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6 open-ended questions · K1–K6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6 lab-evidence tasks · A1–A6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60 minutes each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OUTCOME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Competent / Not Yet Competent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WA-SAQ · 60 min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PP · 60 min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Submit on LMS + sign record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CLICKABLE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10497312" cy="3310128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267712"/>
            <a:ext cx="9784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Download the learner materials and submit the two candidate papers on the 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90672"/>
            <a:ext cx="9098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  <a:hlinkClick r:id="rId2"/>
              </a:rPr>
              <a:t>LMS-TMS · Courseware and Assessment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4069080"/>
            <a:ext cx="3493008" cy="56692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4242816"/>
            <a:ext cx="3493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OPEN 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CLICKABLE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10497312" cy="3310128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267712"/>
            <a:ext cx="9784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Clone the repository or use GitHub · Code · Download ZIP; every lab has its own folder and detailed README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90672"/>
            <a:ext cx="9098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  <a:hlinkClick r:id="rId2"/>
              </a:rPr>
              <a:t>GitHub · AI-102 Hands-On Labs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4069080"/>
            <a:ext cx="3493008" cy="56692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4242816"/>
            <a:ext cx="3493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OPEN 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TOPIC 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Planning · governance · generative AI · agents · vision ·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Plan, secure, and operate Foundry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PLAN &amp; MANAGE · 20–25% OF FINAL AI-102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PLAN &amp; MANAGE · 20–25% OF FINAL AI-102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Plan, secure, and operate Foundry services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Managed identity + least-privilege RBAC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Private endpoint + controlled egress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Foundry project, models, tools, connections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Azure Monitor logs, metrics, traces, alerts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Plan, secure, and operate Foundry services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Classify workload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Select service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Provision identity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Apply network controls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Observe SLOs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Plan, secure, and operate Foundry services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Project endpoint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https://&lt;resource&gt;.services.ai.azure.com/api/projects/&lt;project&gt;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Foundry SDK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Auth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DefaultAzureCredential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Entra token; avoid embedded keys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RBAC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Cognitive Services User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Data-plane inference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Diagnostics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RequestResponse + Audit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Send to Log Analytics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Plan, secure, and operate Foundry services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from azure.identity import DefaultAzureCredential
from azure.ai.projects import AIProjectClient
client = AIProjectClient(endpoint=PROJECT_ENDPOINT,
                         credential=DefaultAzureCredential())
for conn in client.connections.list():
    print(conn.name, conn.type)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Plan, secure, and operate Foundry services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dashboard: availability is a percentage; other values are normalized to target. Investigate any measure below its target band.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Plan, secure, and operate Foundry services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Does the workload need Foundry-native agents, evaluation, or tracing?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Foundry SDK + project 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the task-specific Foundry Tool or OpenAI-compatible endpoint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Plan, secure, and operate Foundry services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401 / 403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Identity lacks data-plane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Verify principal, scope, and token audience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429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Quota or rate limit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Retry with backoff; request quota or scale units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Timeout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Network/DNS/private link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Resolve FQDN from workload subnet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Blind spot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Diagnostics not routed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Enable categories and alert ownership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Lab 01: Plan, Manage, Monitor, and Secure an Azure AI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Plan, secure, and operate Foundry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Map Requirements to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Plan Foundry Resources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Plan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Plan Monitoring and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Draw Architecture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 should have a service map, security plan, monitoring plan, and architecture diagram.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01 · labs/lab-01-plan-manage-secure-azure-ai-solution/README.md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01: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Evidence pack: resource topology, RBAC assignment, private connectivity decision, successful SDK call, and an alert driven by a real metric.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Responsible AI, content safety, and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PLAN &amp; MANAGE · GOVERNANCE CONTROL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GENERATED CONCEPT VISUAL + EDITABLE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Responsible AI, content safety, and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102-responsible-ai-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64208"/>
            <a:ext cx="7406640" cy="4434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75320" y="1755648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75320" y="1755648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22208" y="1883664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 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214884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Prompt shields + content classification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816352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2944368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Model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3209544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Deployment filters + approved model/version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3877056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3877056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400507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 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4270248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Severity thresholds + groundedness checks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4937760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4937760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5065776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533095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Human escalation + audit + incident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PLAN &amp; MANAGE · GOVERNANCE CONTROL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Responsible AI, content safety, and governance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Input 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Prompt shields + content classification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Model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Deployment filters + approved model/version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Output guard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Severity thresholds + groundedness checks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Operations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Human escalation + audit + incident response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Responsible AI, content safety, and governance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Discover risk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Measure baseline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Mitigate controls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Release with limits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Monitor &amp; improve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Responsible AI, content safety, and governance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Hate / Sexual / Violence / Self-harm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severity 0–6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Block at policy threshold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Prompt attack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direct / indirect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Reject, sanitize, or isolate tools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PII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category + offset + confidence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Redact or route to reviewer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Decision record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model, dataset, metric, owner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Versioned audit evidence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Responsible AI, content safety, and governance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POST /contentsafety/text:analyze?api-version=2024-09-01
{
  "text": user_text,
  "categories": ["Hate", "Violence", "SelfHarm", "Sexual"],
  "outputType": "FourSeverityLevels"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Responsible AI, content safety, and governance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evaluation set: tune policy against both unsafe misses and legitimate-content false positives; one aggregate safety score is insufficient.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Responsible AI, content safety, and governance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Could a model action create material harm or irreversible change?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Require human approval and durable audit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Automate within tested thresholds and monitor exceptions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Responsible AI, content safety, and governance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Over-blocking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Threshold too conservative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Segment policy by channel and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Jailbreak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Instruction hierarchy compromised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Isolate untrusted content and tools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Data leak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Prompt/output contains sensitive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Redact, minimize retention, restrict logging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No owner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Incident cannot be escalated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Name response owner and SLA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Lab 02: Responsible AI, Content Safety,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Responsible AI, content safety, and 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Review Responsible AI Principles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Define Content Safety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Create a Safety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Test Governance Scenarios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Create an Incident Plan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 should have responsible AI controls, safety policy, scenario decisions, and incident plan.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02 · labs/lab-02-responsible-ai-content-safety-governance/README.md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02: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Evidence pack: risk register, test dataset, per-category confusion matrix, filter configuration, exception workflow, and incident rehearsal result.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Generative AI, prompt flow, and grounded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GENERATIVE AI · 15–20% OF FINAL AI-102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GENERATIVE AI · 15–20% OF FINAL AI-102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Generative AI, prompt flow, and grounded RAG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Chunk, clean, enrich, preserve source IDs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Text + vector fields in one search index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Retrieve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Hybrid search + filters + semantic rerank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Grounded prompt + citations + evaluation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Generative AI, prompt flow, and grounded RAG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Load corpus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Chunk + embed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Index metadata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Retrieve top-k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Generate with citations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Generative AI, prompt flow, and grounded RAG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chunk_id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string, key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Stable evidence identifier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content_vector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Collection(Edm.Single)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Dimensions match embedding model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filter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tenant_id eq 'T-42'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Security boundary before generation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top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5–20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Recall/latency trade-off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Generative AI, prompt flow, and grounded RAG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response = openai.responses.create(
    model=DEPLOYMENT,
    input=[{"role": "user", "content": question}],
    tools=[{"type": "file_search",
            "vector_store_ids": [STORE_ID]}]
)
print(response.output_text)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Generative AI, prompt flow, and grounded RAG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grounded-answer score: hybrid retrieval improves recall; reranking improves ordering; security filters may reduce recall and must be measured per tenant.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Generative AI, prompt flow, and grounded RAG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Is missing/current knowledge the primary failure?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RAG with governed sources and citations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fine-tuning only for repeatable behavior/style changes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Generative AI, prompt flow, and grounded RAG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Hallucination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Context absent or ignored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Require citations; answer 'not found'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Dimension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Index and query embeddings differ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Use one embedding model/config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Leakage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Filter applied after retrieval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Filter at query/index boundary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Stale corpus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Indexer watermark failed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Track source version and last-success time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Lab 03: Generative AI, Foundry, Azure OpenAI, Prompt Flow, 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Generative AI, prompt flow, and grounded 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Select a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Design Prompt Templates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Plan Prompt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Design 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Evaluate Outputs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 should have model selection notes, prompt templates, prompt flow diagram, RAG design, and evaluation table.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03 · labs/lab-03-generative-ai-foundry-openai-prompt-flow-rag/README.md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03: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Evidence pack: chunk sample, index schema, hybrid query trace, cited answer, groundedness score, latency, and a negative test with no supporting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Agents, tools, memory, and multi-agent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AGENTIC SOLUTIONS · 5–10% OF FINAL AI-102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AGENTIC SOLUTIONS · 5–10% OF FINAL AI-102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Agents, tools, memory, and multi-agent control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Instructions + model + tool policy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Typed schema, narrow permissions, timeouts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Conversation/session state separated by user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Tracing, approvals, budgets, kill switch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Agents, tools, memory, and multi-agent control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Receive goal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Plan next action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Call approved tool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Inspect observation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Stop or continue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Agents, tools, memory, and multi-agent control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Tool schema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name + JSON parameters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Reject unknown arguments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Identity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Dedicated agent principal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No shared admin identity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Budget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max turns / tokens / cost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Hard termination condition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Trace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span, tool call, result, decision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Replayable evidence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Agents, tools, memory, and multi-agent control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agent = project.agents.create_version(
    agent_name="support-triage",
    definition=PromptAgentDefinition(
        model=MODEL_DEPLOYMENT,
        instructions=SYSTEM_POLICY,
        tools=[search_tool, ticket_tool]))
print(agent.id, agent.version)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Agents, tools, memory, and multi-agent control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operational complexity index: add hosting and orchestration only when autonomy, custom code, or specialization justifies extra identity, state, and observability controls.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Agents, tools, memory, and multi-agent control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Can one bounded agent complete the task with one identity and tool set?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Prefer one agent; simpler state and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Split specialists and add explicit handoff/orchestrator contracts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Agents, tools, memory, and multi-agent control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Tool abuse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Broad permissions or weak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Allow-list actions and validate arguments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No stop condition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Turn/time/cost budgets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Cross-user 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Memory partition failure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Key state by tenant + user + session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Opaque handoff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Agent loses context/owner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Typed handoff payload + trace link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Lab 04: Agentic AI, Foundry Agent Service, Multi-Agent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Agents, tools, memory, and multi-agent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Define Agent 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Plan Agent Resources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Design Tool Calls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Design Orchestration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Multi-Agent Review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 should have agent use case, resource plan, tool table, orchestration diagram, and multi-agent notes.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04 · labs/lab-04-agentic-ai-foundry-agent-service/README.md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04: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Evidence pack: agent definition/version, tool schemas, least-privilege identity, approval gate, trace showing tool call/result, budget exhaustion test, and handoff test.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Computer vision, custom models, and 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COMPUTER VISION · 10–15% OF FINAL AI-102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COMPUTER VISION · 10–15% OF FINAL AI-102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Computer vision, custom models, and video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Image/video URI or bytes + consent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Prebuilt analysis or custom model endpoint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Post-process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Threshold, region, label, moderation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Prediction ID, model version, confidence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Computer vision, custom models, and video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Validate media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Normalize input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Invoke model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Apply threshold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Store evidence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Computer vision, custom models, and video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visualFeatures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Caption, Tags, Objects, Read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Request only needed features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model-version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2023-10-01 or pinned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Prevent silent behavior drift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0.0–1.0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Calibrate per class/use case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region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x, y, w, h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Coordinate space tied to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Computer vision, custom models, and video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result = vision.analyze(
    image_url=IMAGE_URL,
    visual_features=[VisualFeatures.CAPTION,
                     VisualFeatures.OBJECTS,
                     VisualFeatures.READ])
print(result.caption.text, result.caption.confidence)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Computer vision, custom models, and video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recall by confidence threshold: a higher threshold reduces false positives but misses more valid objects. Select thresholds from the business cost of each error.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Computer vision, custom models, and video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Does a supported prebuilt feature meet the measured error budget?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prebuilt vision and monitor drift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Train/evaluate a custom model with representative labels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Computer vision, custom models, and video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Bad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Blur, crop, lighting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Quality gate before inference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Class imbalance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Few minority examples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Rebalance and report per-class metrics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Threshold drift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Production data shifts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Monitor confidence distribution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Privacy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Faces/identifiers retained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Consent, minimization, retention control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Lab 05: Computer Vision, Custom Vision, Video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Computer vision, custom models, and video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Map Vision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Plan an Image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Custom Vision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Video Insights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Responsible AI Review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 should have vision mapping, request plan, custom vision plan, video insight notes, and responsible AI review.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05 · labs/lab-05-computer-vision-custom-vision-video/README.md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05: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Evidence pack: sample request/response, confidence policy, confusion matrix, model version, difficult-image tests, and privacy/retention decision.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TOPIC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Language, speech, translation, and SSML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NATURAL LANGUAGE PROCESSING · 15–20% OF FINAL AI-102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NATURAL LANGUAGE PROCESSING · 15–20% OF FINAL AI-102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Language, speech, translation, and SSML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Language detection, entities, sentiment, PII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Speech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STT/TTS + custom speech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Translation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Text/document/speech translation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Experience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Locale, pronunciation, latency, fallback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Language, speech, translation, and SSML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Detect locale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Transcribe / parse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Extract meaning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Translate / synthesize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Validate quality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Language, speech, translation, and SSML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language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en-SG / zh-Hans / auto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Affects model and voice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offset + length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Unicode text span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Preserve source mapping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SSML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voice, prosody, phoneme, break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Controlled speech output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recognition result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text + reason + duration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Handle NoMatch/Canceled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Language, speech, translation, and SSML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&lt;speak version="1.0" xml:lang="en-SG"&gt;
  &lt;voice name="en-SG-LunaNeural"&gt;
    Your request is &lt;prosody rate="-5%"&gt;approved&lt;/prosody&gt;.
  &lt;/voice&gt;
&lt;/speak&gt;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Language, speech, translation, and SSML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word error rate (%): acoustic context changes recognition quality. Test the real channel and vocabulary; do not accept a studio-only benchmark.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Language, speech, translation, and SSML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Does the application need deterministic intents/entities or flexible generation?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CLU/CQA or structured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a generative model with schema validation and safety controls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Language, speech, translation, and SSML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NoMatch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Audio/language mismatch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Inspect reason and locale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PII leak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Transcript retained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Redact before logging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Bad pronunciation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Voice/phoneme mismatch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Use SSML phoneme/lexicon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Translation drift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Domain terms mistranslated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Glossary/custom model + review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06: NLP, Language, Speech, Translation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Language, speech, translation, and SSML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Map Language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Design Text Analysis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Design Speech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SSML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Translation Review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 should have language task mapping, text pipeline, speech pipeline, SSML notes, and translation notes.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06 · labs/lab-06-nlp-language-speech-translation/README.md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06: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Evidence pack: multilingual samples, PII span/redaction, recognition reasons, SSML output, word-error-rate sample, and human review for domain terms.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TOPIC 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Custom language · search · information extraction ·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TOPIC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Custom language understanding and question answering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NLP · CUSTOM MODELS AND KNOWLEDGE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NLP · CUSTOM MODELS AND KNOWLEDGE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Custom language understanding and question answering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Authoring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Intents, entities, utterances, Q&amp;A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Versioned dataset + split + label policy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Named deployment + endpoint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Export, backup, redeploy, regression tests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Custom language understanding and question answering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Define labels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Add examples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Train version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Evaluate errors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Deploy + regress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Custom language understanding and question answering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projectName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stable logical name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Export/recovery anchor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deploymentName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production / canary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Decouple project from release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topIntent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intent + confidence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Route only above threshold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answer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text + source + confidence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Surface provenance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Custom language understanding and question answering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result = client.analyze_conversation(
    task={"kind": "Conversation",
          "analysisInput": {"conversationItem": {
              "id": "1", "participantId": "u1",
              "text": utterance}}})
print(result["result"]["prediction"]["topIntent"])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Custom language understanding and question answering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mean confidence by intent: low-confidence 'none' is desirable only if it safely captures out-of-domain utterances; inspect confusion, not confidence alone.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Custom language understanding and question answering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Are answers curated, auditable, and source-bound?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custom question answering with source/alternate phrasing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RAG for larger dynamic corpora; keep citations and filters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Custom language understanding and question answering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Intent confusion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Overlapping utterances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Relabel or split using confusion matrix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No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Source not indexed or alternate missing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Trace source ingestion and variants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Version drift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Deployment points to old 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Record project/deployment version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Retirement risk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Feature lifecycle changes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Plan migration and regression suite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Lab 07: Custom Language Models and Question Answering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Custom language understanding and question answering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Define Intents and Entities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Plan Training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Plan Custom Question Answering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Multilingual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Backup and Recovery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 should have intent/entity table, training plan, question answering plan, multilingual strategy, and backup notes.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07 · labs/lab-07-custom-language-question-answering/README.md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07: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Evidence pack: label guide, train/test split, confusion matrix, deployment name, fallback threshold, Q&amp;A source citation, export, and recovery rehearsal.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TOPIC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Azure AI Search, vector retrieval, and knowledge mining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KNOWLEDGE MINING · 15–20% OF FINAL AI-102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KNOWLEDGE MINING · 15–20% OF FINAL AI-102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Azure AI Search, vector retrieval, and knowledge mining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Blob/SQL/Cosmos data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Enrichment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Indexer + skillset + cache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Text, filters, vectors, semantic config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Query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BM25 + vector + RRF + semantic rerank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Azure AI Search, vector retrieval, and knowledge mining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Crack documents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Enrich skills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Project fields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Build vector index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Hybrid query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Azure AI Search, vector retrieval, and knowledge mining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key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Edm.String, key=true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Unique document/chunk ID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vector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Collection(Edm.Single)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Dimensions + HNSW profile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search/filter/select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query contract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Reduce exposure and payload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scores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@search.score / rerankerScore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Different scales; do not compare directly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Azure AI Search, vector retrieval, and knowledge mining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{
  "search": "maintenance policy",
  "vectorQueries": [{"kind": "text", "text": "maintenance policy",
+                       "fields": "content_vector"}],
  "queryType": "semantic",
  "filter": "tenant_id eq 'T-42'",
  "top": 5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Azure AI Search, vector retrieval, and knowledge mining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nDCG@5: hybrid retrieval often improves coverage, while semantic reranking improves ordering. Validate with your own judged query 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Azure AI Search, vector retrieval, and knowledge mining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Must the system support exact terms, filters, and semantic similarity together?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hybrid query + filters + semantic 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the simplest retrieval mode that meets measured relevance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Azure AI Search, vector retrieval, and knowledge mining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Indexer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Skill input path missing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Inspect enrichment tree and field mappings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Empty vector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Embedding skill/vectorizer failed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Check endpoint, dimensions, projection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Poor relevance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No judged query 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Create labels and compare retrieval modes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Data leak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filterable security field absent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Enforce tenant/ACL filter before results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Lab 08: Azure AI Search, Knowledge Mining, Vector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Azure AI Search, vector retrieval, and knowledge mining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Design an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Plan Data Sources and Indexers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Define a Skillset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Query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Knowledge Store Projections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 should have index design, data source/indexer plan, skillset plan, query examples, and knowledge store notes.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08 · labs/lab-08-ai-search-knowledge-mining-vector-search/README.md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08: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Evidence pack: index schema, data source/indexer/skillset JSON, successful run history, judged queries, hybrid trace, security-filter negative test, and knowledge-store projection.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TOPIC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Document Intelligence and Content 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INFORMATION EXTRACTION · 15–20% OF FINAL AI-102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GENERATED CONCEPT VISUAL + EDITABLE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Document Intelligence and Content Understanding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102-multimodal-ing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64208"/>
            <a:ext cx="7406640" cy="4434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75320" y="1755648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75320" y="1755648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22208" y="1883664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214884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Document/image/audio/video + content 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816352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2944368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Analyzer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3209544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Prebuilt/custom/composed/Content Understanding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3877056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3877056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400507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4270248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Fields, tables, spans, confidence, provenance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4937760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4937760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5065776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Downstream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533095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Validation, search, workflow,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INFORMATION EXTRACTION · 15–20% OF FINAL AI-102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Document Intelligence and Content Understanding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Document/image/audio/video + content 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Analyzer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Prebuilt/custom/composed/Content Understanding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Schema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Fields, tables, spans, confidence, provenance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Downstream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Validation, search, workflow, audit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Document Intelligence and Content Understanding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Classify 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Select analyzer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Extract structure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Validate confidence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Route downstream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Document Intelligence and Content Understanding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modelId / analyzerId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prebuilt or versioned custom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Release identity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pages / spans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offset + length + polygon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Trace extracted value to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field-level 0–1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Drive review threshold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operation-location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async result URL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Poll until succeeded/failed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Document Intelligence and Content Understanding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poller = client.begin_analyze_document(
    model_id="prebuilt-invoice",
    body=document_bytes,
    content_type="application/pdf")
result = poller.result()
for doc in result.documents:
    print(doc.fields["InvoiceTotal"].value_currency)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Document Intelligence and Content Understanding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field F1: prebuilt models excel on supported formats; custom/composed models or Content Understanding address domain-specific and multimodal schemas.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Document Intelligence and Content Understanding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Is the input a supported document with a stable prebuilt schema?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a prebuilt Document Intelligence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custom/composed models or Content Understanding for multimodal/domain schemas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Document Intelligence and Content Understanding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Wrong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Document type misclassified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Classify first or use composed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Low confidence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Layout/domain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Human review + retraining sample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Async timeout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Polling/size/page limits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Honor operation status and limits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Lost provenance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Value stored without span/page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Persist source URI + region/span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Lab 09: Document Intelligence and Content Understanding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Document Intelligence and Content Understanding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Map Document 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Custom Document Model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Content Understanding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Human Review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Integration Flow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 should have scenario mapping, custom model plan, content understanding plan, review rules, and integration flow.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09 · labs/lab-09-document-intelligence-content-understanding/README.md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09: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Evidence pack: analyzer/model ID, sample result JSON, source polygons/spans, field-level metrics, review threshold, failure sample, and downstream search/workflow record.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TOPIC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Capstone: production AI solution decision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CAPSTONE · INTEGRATE, OPERATE, AND IMPROVE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GENERATED CONCEPT VISUAL + EDITABLE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Capstone: production AI solution decision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102-foundry-control-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64208"/>
            <a:ext cx="7406640" cy="4434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75320" y="1755648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75320" y="1755648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22208" y="1883664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214884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API/UI + accessibility + fallback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816352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2944368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3209544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Model/agent + retrieval + extraction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3877056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3877056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400507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4270248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Identity, network, data, deployment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4937760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4937760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5065776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533095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SLOs, evaluation, audit, incident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CAPSTONE · INTEGRATE, OPERATE, AND IMPROVE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Capstone: production AI solution decision record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API/UI + accessibility + fallback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Model/agent + retrieval + extraction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Identity, network, data, deployment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Operations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SLOs, evaluation, audit, incident response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Capstone: production AI solution decision record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Frame outcome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Map risks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Prototype evidence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Release gates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Operate &amp; improve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Capstone: production AI solution decision record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ADR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context, decision, alternatives, consequence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Auditable design rationale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SLO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availability, p95, quality, cost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Named owner + error budget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Evaluation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dataset, metric, threshold, version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Reproducible release gate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Runbook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signal, diagnosis, containment, recovery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Operational readiness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Capstone: production AI solution decision record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release_gate = {
  "groundedness": {"min": 0.82},
  "unsafe_rate": {"max": 0.01},
  "p95_ms": {"max": 2500},
  "cost_per_case_sgd": {"max": 0.08}
}
assert all(check(metric, rule) for metric, rule in release_gate.items())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Capstone: production AI solution decision record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release scorecard normalized to target: a release fails when any hard safety/quality gate fails, even if the average score looks healthy.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Capstone: production AI solution decision record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Does every material risk have a tested control, owner, and observable signal?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Approve staged release with rollback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Return to design/evaluation; do not average away a failed gate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Capstone: production AI solution decision record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Metric gaming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One aggregate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Use per-risk hard gates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No rollback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Model/index change irreversible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Blue/green assets + pinned versions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Cost surprise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Token/vector/skill usage unbounded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Budgets, caching, quotas, alerts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No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Decision cannot be audited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Bundle ADR, tests, traces, runbook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10: AI-102 Capstone and Course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Capstone: production AI solution decision record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Build a Service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Draw the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Add Governance 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Rate Skill Confidence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Clean Up Resources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 should have a service map, architecture diagram, governance checklist, confidence matrix, cleanup plan, and review plan.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10 · labs/lab-10-ai102-capstone-course-review/README.md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Capstone evidence: architecture and data flow, ADR, threat/risk model, evaluation report, SLO dashboard, cost estimate, deployment/rollback plan, runbook, and improvement backlog.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TOPIC 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Assessment and course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Evidence submission · assessment flow ·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CLICKABLE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Course registration and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10497312" cy="3310128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267712"/>
            <a:ext cx="9784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Course details, funding information, schedules, and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90672"/>
            <a:ext cx="9098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  <a:hlinkClick r:id="rId2"/>
              </a:rPr>
              <a:t>Tertiary Courses · AI-102 Registration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4069080"/>
            <a:ext cx="3493008" cy="56692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4242816"/>
            <a:ext cx="3493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OPEN 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FINAL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WA-SAQ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60 min · K1–K6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60 min · A1–A6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Approved materials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Candidate papers on LMS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END-OF-COURSE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WA-SAQ · 60 min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PP · 60 min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Submit on LMS + sign record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Use the LMS/TMS QR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Complete digital attendance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Confirm attendance recorded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Complete Assessment Summary Record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TOPIC 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You can now explain, test, and operate an end-to-end Azure AI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Microsoft Certified Azure AI Engineer Associate AI-102 Training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med" advClick="1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